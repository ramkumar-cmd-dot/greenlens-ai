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F1F6F4"/>
          </a:solidFill>
          <a:ln w="25400">
            <a:solidFill>
              <a:srgbClr val="10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400" b="1">
                <a:solidFill>
                  <a:srgbClr val="107A57"/>
                </a:solidFill>
                <a:latin typeface="Calibri"/>
              </a:defRPr>
            </a:pPr>
            <a:r>
              <a:t>MEGATHON X: SINGULARITY · PROBLEM STATEMENT 1 (LLOYDS)</a:t>
            </a:r>
          </a:p>
          <a:p>
            <a:pPr>
              <a:spcBef>
                <a:spcPts val="800"/>
              </a:spcBef>
              <a:defRPr sz="4600" b="1">
                <a:solidFill>
                  <a:srgbClr val="0B3D2C"/>
                </a:solidFill>
                <a:latin typeface="Calibri"/>
              </a:defRPr>
            </a:pPr>
            <a:r>
              <a:t>GreenLens AI</a:t>
            </a:r>
          </a:p>
          <a:p>
            <a:pPr>
              <a:spcBef>
                <a:spcPts val="400"/>
              </a:spcBef>
              <a:defRPr sz="2200">
                <a:solidFill>
                  <a:srgbClr val="1A202C"/>
                </a:solidFill>
                <a:latin typeface="Calibri"/>
              </a:defRPr>
            </a:pPr>
            <a:r>
              <a:t>An Explainable Green Customer Insights Platform Grounded in Evidence</a:t>
            </a:r>
          </a:p>
          <a:p>
            <a:pPr>
              <a:spcBef>
                <a:spcPts val="1600"/>
              </a:spcBef>
              <a:defRPr sz="1600" b="1">
                <a:solidFill>
                  <a:srgbClr val="475569"/>
                </a:solidFill>
                <a:latin typeface="Calibri"/>
              </a:defRPr>
            </a:pPr>
            <a:r>
              <a:t>Team 43   |   Retail Customer &amp; Business Intelligence Dashboards</a:t>
            </a:r>
          </a:p>
          <a:p>
            <a:pPr>
              <a:spcBef>
                <a:spcPts val="1000"/>
              </a:spcBef>
              <a:defRPr sz="1700">
                <a:solidFill>
                  <a:srgbClr val="1A202C"/>
                </a:solidFill>
                <a:latin typeface="Calibri"/>
              </a:defRPr>
            </a:pPr>
            <a:r>
              <a:t>✓  Analyzes everyday transaction patterns to identify four green product opportunities.</a:t>
            </a:r>
          </a:p>
          <a:p>
            <a:pPr>
              <a:spcBef>
                <a:spcPts val="1000"/>
              </a:spcBef>
              <a:defRPr sz="1700">
                <a:solidFill>
                  <a:srgbClr val="1A202C"/>
                </a:solidFill>
                <a:latin typeface="Calibri"/>
              </a:defRPr>
            </a:pPr>
            <a:r>
              <a:t>✓  Strictly separates machine learning predictions from deterministic carbon calculations and bank policy.</a:t>
            </a:r>
          </a:p>
          <a:p>
            <a:pPr>
              <a:spcBef>
                <a:spcPts val="1000"/>
              </a:spcBef>
              <a:defRPr sz="1700">
                <a:solidFill>
                  <a:srgbClr val="1A202C"/>
                </a:solidFill>
                <a:latin typeface="Calibri"/>
              </a:defRPr>
            </a:pPr>
            <a:r>
              <a:t>✓  Guarantees zero hallucinations through a constrained, verified explanation architecture.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1 of 12   |   Presenter: Speaker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Why Green Banking Needs Strict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The Banking Challenge: </a:t>
            </a:r>
            <a:r>
              <a:rPr sz="1600">
                <a:solidFill>
                  <a:srgbClr val="1A202C"/>
                </a:solidFill>
                <a:latin typeface="Calibri"/>
              </a:rPr>
              <a:t>Banks hold rich debit spend and account data, but lack tools to pinpoint genuine green transition opportunities.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The Greenwashing Risk: </a:t>
            </a:r>
            <a:r>
              <a:rPr sz="1600">
                <a:solidFill>
                  <a:srgbClr val="1A202C"/>
                </a:solidFill>
                <a:latin typeface="Calibri"/>
              </a:rPr>
              <a:t>Unverified carbon numbers destroy regulatory and consumer trust. Impact must be auditable and conservative.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Dual Stakeholder Value: </a:t>
            </a:r>
            <a:r>
              <a:rPr sz="1600">
                <a:solidFill>
                  <a:srgbClr val="1A202C"/>
                </a:solidFill>
                <a:latin typeface="Calibri"/>
              </a:rPr>
              <a:t>Retail customers get non-intrusive green guidance; relationship managers get high-priority portfolio leads.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Our Standard: </a:t>
            </a:r>
            <a:r>
              <a:rPr sz="1600">
                <a:solidFill>
                  <a:srgbClr val="1A202C"/>
                </a:solidFill>
                <a:latin typeface="Calibri"/>
              </a:rPr>
              <a:t>Practical insights that never confuse commercial sales propensity with credit eligibility or financial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2 of 12   |   Presenter: Speaker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128016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107A57"/>
                </a:solidFill>
                <a:latin typeface="Calibri"/>
              </a:defRPr>
            </a:pPr>
            <a:r>
              <a:t>Retail Customer</a:t>
            </a:r>
          </a:p>
          <a:p>
            <a:pPr>
              <a:spcBef>
                <a:spcPts val="400"/>
              </a:spcBef>
              <a:defRPr sz="1300">
                <a:solidFill>
                  <a:srgbClr val="1A202C"/>
                </a:solidFill>
                <a:latin typeface="Calibri"/>
              </a:defRPr>
            </a:pPr>
            <a:r>
              <a:t>Clear, personalized green options (EV, Solar, Green Home, Paperless) with full reason codes and customer memory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154680"/>
            <a:ext cx="4572000" cy="128016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B3D2C"/>
                </a:solidFill>
                <a:latin typeface="Calibri"/>
              </a:defRPr>
            </a:pPr>
            <a:r>
              <a:t>Relationship Team</a:t>
            </a:r>
          </a:p>
          <a:p>
            <a:pPr>
              <a:spcBef>
                <a:spcPts val="400"/>
              </a:spcBef>
              <a:defRPr sz="1300">
                <a:solidFill>
                  <a:srgbClr val="1A202C"/>
                </a:solidFill>
                <a:latin typeface="Calibri"/>
              </a:defRPr>
            </a:pPr>
            <a:r>
              <a:t>Portfolio intelligence across 5,000 customers with validated priority screens and impact drill-downs.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617720"/>
            <a:ext cx="4572000" cy="128016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B91C1C"/>
                </a:solidFill>
                <a:latin typeface="Calibri"/>
              </a:defRPr>
            </a:pPr>
            <a:r>
              <a:t>Compliance &amp; Governance</a:t>
            </a:r>
          </a:p>
          <a:p>
            <a:pPr>
              <a:spcBef>
                <a:spcPts val="400"/>
              </a:spcBef>
              <a:defRPr sz="1300">
                <a:solidFill>
                  <a:srgbClr val="1A202C"/>
                </a:solidFill>
                <a:latin typeface="Calibri"/>
              </a:defRPr>
            </a:pPr>
            <a:r>
              <a:t>Audit-ready operational impact scenarios with documented UK government emission factors and zero LLM guesswork.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THE BRIEF'S CORE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The Four-Way Division of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Machine Learning Predicts: </a:t>
            </a:r>
            <a:r>
              <a:rPr sz="1600">
                <a:solidFill>
                  <a:srgbClr val="1A202C"/>
                </a:solidFill>
                <a:latin typeface="Calibri"/>
              </a:rPr>
              <a:t>Estimates simulated customer take-up propensity from spending trends and circumstances.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Carbon Engine Calculates: </a:t>
            </a:r>
            <a:r>
              <a:rPr sz="1600">
                <a:solidFill>
                  <a:srgbClr val="1A202C"/>
                </a:solidFill>
                <a:latin typeface="Calibri"/>
              </a:rPr>
              <a:t>Computes operational emission impacts using verified 2025 UK government factors.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Product Rules Decide Eligibility: </a:t>
            </a:r>
            <a:r>
              <a:rPr sz="1600">
                <a:solidFill>
                  <a:srgbClr val="1A202C"/>
                </a:solidFill>
                <a:latin typeface="Calibri"/>
              </a:rPr>
              <a:t>Enforces explicit bank policies (e.g. existing EV exclusions) independently of ML scores.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The LLM Only Explains: </a:t>
            </a:r>
            <a:r>
              <a:rPr sz="1600">
                <a:solidFill>
                  <a:srgbClr val="1A202C"/>
                </a:solidFill>
                <a:latin typeface="Calibri"/>
              </a:rPr>
              <a:t>Acts as a safe sentence selector from approved templates; never predicts, calculates, or approves.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3 of 12   |   Presenter: Speaker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100584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B3D2C"/>
                </a:solidFill>
                <a:latin typeface="Calibri"/>
              </a:defRPr>
            </a:pPr>
            <a:r>
              <a:t>1. ML Models</a:t>
            </a:r>
          </a:p>
          <a:p>
            <a:pPr>
              <a:spcBef>
                <a:spcPts val="300"/>
              </a:spcBef>
              <a:defRPr sz="1300">
                <a:solidFill>
                  <a:srgbClr val="1A202C"/>
                </a:solidFill>
                <a:latin typeface="Calibri"/>
              </a:defRPr>
            </a:pPr>
            <a:r>
              <a:t>→ Predicts simulated take-up propensity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807208"/>
            <a:ext cx="4572000" cy="100584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107A57"/>
                </a:solidFill>
                <a:latin typeface="Calibri"/>
              </a:defRPr>
            </a:pPr>
            <a:r>
              <a:t>2. Carbon Engine</a:t>
            </a:r>
          </a:p>
          <a:p>
            <a:pPr>
              <a:spcBef>
                <a:spcPts val="300"/>
              </a:spcBef>
              <a:defRPr sz="1300">
                <a:solidFill>
                  <a:srgbClr val="1A202C"/>
                </a:solidFill>
                <a:latin typeface="Calibri"/>
              </a:defRPr>
            </a:pPr>
            <a:r>
              <a:t>→ Computes documented annual kgCO2e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922776"/>
            <a:ext cx="4572000" cy="100584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B91C1C"/>
                </a:solidFill>
                <a:latin typeface="Calibri"/>
              </a:defRPr>
            </a:pPr>
            <a:r>
              <a:t>3. Product Rules</a:t>
            </a:r>
          </a:p>
          <a:p>
            <a:pPr>
              <a:spcBef>
                <a:spcPts val="300"/>
              </a:spcBef>
              <a:defRPr sz="1300">
                <a:solidFill>
                  <a:srgbClr val="1A202C"/>
                </a:solidFill>
                <a:latin typeface="Calibri"/>
              </a:defRPr>
            </a:pPr>
            <a:r>
              <a:t>→ Decides eligibility &amp; explicit exclusions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5038344"/>
            <a:ext cx="4572000" cy="100584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475569"/>
                </a:solidFill>
                <a:latin typeface="Calibri"/>
              </a:defRPr>
            </a:pPr>
            <a:r>
              <a:t>4. Guarded LLM</a:t>
            </a:r>
          </a:p>
          <a:p>
            <a:pPr>
              <a:spcBef>
                <a:spcPts val="300"/>
              </a:spcBef>
              <a:defRPr sz="1300">
                <a:solidFill>
                  <a:srgbClr val="1A202C"/>
                </a:solidFill>
                <a:latin typeface="Calibri"/>
              </a:defRPr>
            </a:pPr>
            <a:r>
              <a:t>→ Only selects approved factual sentences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A Modular, Read-Only Production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Immutable Snapshot: </a:t>
            </a:r>
            <a:r>
              <a:rPr sz="1600">
                <a:solidFill>
                  <a:srgbClr val="1A202C"/>
                </a:solidFill>
                <a:latin typeface="Calibri"/>
              </a:rPr>
              <a:t>Relational customer data and transactions import into SQLite with SHA-256 source verification.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Batch Inference: </a:t>
            </a:r>
            <a:r>
              <a:rPr sz="1600">
                <a:solidFill>
                  <a:srgbClr val="1A202C"/>
                </a:solidFill>
                <a:latin typeface="Calibri"/>
              </a:rPr>
              <a:t>Four trained scikit-learn pipelines load once at startup and score 5,000 customers in seconds.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Deterministic Carbon Engine: </a:t>
            </a:r>
            <a:r>
              <a:rPr sz="1600">
                <a:solidFill>
                  <a:srgbClr val="1A202C"/>
                </a:solidFill>
                <a:latin typeface="Calibri"/>
              </a:rPr>
              <a:t>Verified UK conversion factors compute operational scenarios without database mutation.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Guarded Delivery: </a:t>
            </a:r>
            <a:r>
              <a:rPr sz="1600">
                <a:solidFill>
                  <a:srgbClr val="1A202C"/>
                </a:solidFill>
                <a:latin typeface="Calibri"/>
              </a:rPr>
              <a:t>Typed FastAPI contracts serve twin React dashboards with 100% offline deterministic fallbacks.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4 of 12   |   Presenter: Speaker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429768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700" b="1">
                <a:solidFill>
                  <a:srgbClr val="0B3D2C"/>
                </a:solidFill>
                <a:latin typeface="Calibri"/>
              </a:defRPr>
            </a:pPr>
            <a:r>
              <a:t>END-TO-END PIPELINE</a:t>
            </a:r>
          </a:p>
          <a:p>
            <a:br/>
            <a:pPr>
              <a:defRPr sz="1400" b="1">
                <a:solidFill>
                  <a:srgbClr val="107A57"/>
                </a:solidFill>
                <a:latin typeface="Calibri"/>
              </a:defRPr>
            </a:pPr>
            <a:r>
              <a:t>1. Synthetic CSVs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5,000 customers, 368k transactions</a:t>
            </a:r>
          </a:p>
          <a:p>
            <a:br/>
            <a:pPr>
              <a:defRPr sz="1400" b="1">
                <a:solidFill>
                  <a:srgbClr val="107A57"/>
                </a:solidFill>
                <a:latin typeface="Calibri"/>
              </a:defRPr>
            </a:pPr>
            <a:r>
              <a:t>2. Customer 360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28 pre-cutoff behavioral features</a:t>
            </a:r>
          </a:p>
          <a:p>
            <a:br/>
            <a:pPr>
              <a:defRPr sz="1400" b="1">
                <a:solidFill>
                  <a:srgbClr val="107A57"/>
                </a:solidFill>
                <a:latin typeface="Calibri"/>
              </a:defRPr>
            </a:pPr>
            <a:r>
              <a:t>3. ML Inference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4 propensity models + TF-IDF classifier</a:t>
            </a:r>
          </a:p>
          <a:p>
            <a:br/>
            <a:pPr>
              <a:defRPr sz="1400" b="1">
                <a:solidFill>
                  <a:srgbClr val="107A57"/>
                </a:solidFill>
                <a:latin typeface="Calibri"/>
              </a:defRPr>
            </a:pPr>
            <a:r>
              <a:t>4. Rules &amp; Carbon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2025 DESNZ factors + exclusion screens</a:t>
            </a:r>
          </a:p>
          <a:p>
            <a:br/>
            <a:pPr>
              <a:defRPr sz="1400" b="1">
                <a:solidFill>
                  <a:srgbClr val="107A57"/>
                </a:solidFill>
                <a:latin typeface="Calibri"/>
              </a:defRPr>
            </a:pPr>
            <a:r>
              <a:t>5. Guarded LLM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Safe sentence selection (fails closed)</a:t>
            </a:r>
          </a:p>
          <a:p>
            <a:br/>
            <a:pPr>
              <a:defRPr sz="1400" b="1">
                <a:solidFill>
                  <a:srgbClr val="107A57"/>
                </a:solidFill>
                <a:latin typeface="Calibri"/>
              </a:defRPr>
            </a:pPr>
            <a:r>
              <a:t>6. FastAPI &amp; React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Customer Insights + Business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DATA &amp; PARTITION HYGIENE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Synthetic UK Cohort with Clean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Synthetic UK Cohort: </a:t>
            </a:r>
            <a:r>
              <a:rPr sz="1600">
                <a:solidFill>
                  <a:srgbClr val="1A202C"/>
                </a:solidFill>
                <a:latin typeface="Calibri"/>
              </a:rPr>
              <a:t>5,000 customers and 368,323 transactions with realistic UK spending distributions (no real PII).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Disjoint Partitioning: </a:t>
            </a:r>
            <a:r>
              <a:rPr sz="1600">
                <a:solidFill>
                  <a:srgbClr val="1A202C"/>
                </a:solidFill>
                <a:latin typeface="Calibri"/>
              </a:rPr>
              <a:t>3,500 train (70%) / 750 validation (15%) / 750 test (15%), split strictly by customer ID with 0% overlap.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Pre-Cutoff Features: </a:t>
            </a:r>
            <a:r>
              <a:rPr sz="1600">
                <a:solidFill>
                  <a:srgbClr val="1A202C"/>
                </a:solidFill>
                <a:latin typeface="Calibri"/>
              </a:rPr>
              <a:t>All 28 Customer 360 features derive strictly from activity prior to the synthetic prediction cutoff date.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Zero Leakage: </a:t>
            </a:r>
            <a:r>
              <a:rPr sz="1600">
                <a:solidFill>
                  <a:srgbClr val="1A202C"/>
                </a:solidFill>
                <a:latin typeface="Calibri"/>
              </a:rPr>
              <a:t>Numeric missing-value imputers use training medians only, verified by automated audit scripts.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5 of 12   |   Presenter: Speaker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429768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700" b="1">
                <a:solidFill>
                  <a:srgbClr val="0B3D2C"/>
                </a:solidFill>
                <a:latin typeface="Calibri"/>
              </a:defRPr>
            </a:pPr>
            <a:r>
              <a:t>DATASET SPECIFICATIONS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Total Cohort Size: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5,000 synthetic UK customers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Transaction Records: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368,323 category-mapped rows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Training Partition: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3,500 customers (70%)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Validation Partition: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750 customers (15%)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Held-Out Test Partition: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750 customers (15%)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Customer Overlap: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0% (completely disjoint IDs)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Feature Leakage: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Zero (all pre-cutoff features)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MACHINE LEARNING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Propensity Results &amp; The Unseen-Merchant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Four Models Beat Baselines (Test AUC): </a:t>
            </a:r>
            <a:r>
              <a:rPr sz="1600">
                <a:solidFill>
                  <a:srgbClr val="1A202C"/>
                </a:solidFill>
                <a:latin typeface="Calibri"/>
              </a:rPr>
              <a:t>GP01 EV 0.751, GP02 Home 0.815, GP03 Solar 0.901, GP04 Paperless 0.866.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Priority Thresholds (Test F1): </a:t>
            </a:r>
            <a:r>
              <a:rPr sz="1600">
                <a:solidFill>
                  <a:srgbClr val="1A202C"/>
                </a:solidFill>
                <a:latin typeface="Calibri"/>
              </a:rPr>
              <a:t>EV 0.389 (thr 0.24), Home 0.327 (thr 0.10), Solar 0.353 (thr 0.23), Paperless 0.577 (thr 0.28).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Transaction Categorization: </a:t>
            </a:r>
            <a:r>
              <a:rPr sz="1600">
                <a:solidFill>
                  <a:srgbClr val="1A202C"/>
                </a:solidFill>
                <a:latin typeface="Calibri"/>
              </a:rPr>
              <a:t>TF-IDF text model achieves 0.980 test macro F1 on customer splits vs 0.918 for rule baseline.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Honest Unseen-Merchant Check: </a:t>
            </a:r>
            <a:r>
              <a:rPr sz="1600">
                <a:solidFill>
                  <a:srgbClr val="1A202C"/>
                </a:solidFill>
                <a:latin typeface="Calibri"/>
              </a:rPr>
              <a:t>On 7 held-out merchants, TF-IDF drops to 0.095 while the rule baseline retains 0.921.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6 of 12   |   Presenter: Speaker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201168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0B3D2C"/>
                </a:solidFill>
                <a:latin typeface="Calibri"/>
              </a:defRPr>
            </a:pPr>
            <a:r>
              <a:t>PROPENSITY TEST EVALUATION</a:t>
            </a:r>
          </a:p>
          <a:p>
            <a:pPr>
              <a:spcBef>
                <a:spcPts val="400"/>
              </a:spcBef>
              <a:defRPr sz="1200">
                <a:solidFill>
                  <a:srgbClr val="1A202C"/>
                </a:solidFill>
                <a:latin typeface="Calibri"/>
              </a:defRPr>
            </a:pPr>
            <a:r>
              <a:t>GP01 EV Finance:       AUC 0.751  |  F1: 0.389</a:t>
            </a:r>
          </a:p>
          <a:p>
            <a:pPr>
              <a:spcBef>
                <a:spcPts val="400"/>
              </a:spcBef>
              <a:defRPr sz="1200">
                <a:solidFill>
                  <a:srgbClr val="1A202C"/>
                </a:solidFill>
                <a:latin typeface="Calibri"/>
              </a:defRPr>
            </a:pPr>
            <a:r>
              <a:t>GP02 Green Home Loan:  AUC 0.815  |  F1: 0.327</a:t>
            </a:r>
          </a:p>
          <a:p>
            <a:pPr>
              <a:spcBef>
                <a:spcPts val="400"/>
              </a:spcBef>
              <a:defRPr sz="1200">
                <a:solidFill>
                  <a:srgbClr val="1A202C"/>
                </a:solidFill>
                <a:latin typeface="Calibri"/>
              </a:defRPr>
            </a:pPr>
            <a:r>
              <a:t>GP03 Solar Finance:    AUC 0.901  |  F1: 0.353</a:t>
            </a:r>
          </a:p>
          <a:p>
            <a:pPr>
              <a:spcBef>
                <a:spcPts val="400"/>
              </a:spcBef>
              <a:defRPr sz="1200">
                <a:solidFill>
                  <a:srgbClr val="1A202C"/>
                </a:solidFill>
                <a:latin typeface="Calibri"/>
              </a:defRPr>
            </a:pPr>
            <a:r>
              <a:t>GP04 Paperless:        AUC 0.866  |  F1: 0.577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886200"/>
            <a:ext cx="4572000" cy="210312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500" b="1">
                <a:solidFill>
                  <a:srgbClr val="B91C1C"/>
                </a:solidFill>
                <a:latin typeface="Calibri"/>
              </a:defRPr>
            </a:pPr>
            <a:r>
              <a:t>HONEST UNSEEN-MERCHANT DIAGNOSTIC</a:t>
            </a:r>
          </a:p>
          <a:p>
            <a:pPr>
              <a:spcBef>
                <a:spcPts val="600"/>
              </a:spcBef>
              <a:defRPr sz="1300">
                <a:solidFill>
                  <a:srgbClr val="1A202C"/>
                </a:solidFill>
                <a:latin typeface="Calibri"/>
              </a:defRPr>
            </a:pPr>
            <a:r>
              <a:t>Customer Split:  TF-IDF F1 = 0.980  |  Rule = 0.918</a:t>
            </a:r>
          </a:p>
          <a:p>
            <a:pPr>
              <a:spcBef>
                <a:spcPts val="400"/>
              </a:spcBef>
              <a:defRPr sz="1300" b="1">
                <a:solidFill>
                  <a:srgbClr val="B91C1C"/>
                </a:solidFill>
                <a:latin typeface="Calibri"/>
              </a:defRPr>
            </a:pPr>
            <a:r>
              <a:t>Merchant Holdout: TF-IDF F1 = 0.095  |  Rule = 0.921</a:t>
            </a:r>
          </a:p>
          <a:p>
            <a:pPr>
              <a:spcBef>
                <a:spcPts val="400"/>
              </a:spcBef>
              <a:defRPr sz="1100">
                <a:solidFill>
                  <a:srgbClr val="1A202C"/>
                </a:solidFill>
                <a:latin typeface="Calibri"/>
              </a:defRPr>
            </a:pPr>
            <a:r>
              <a:t>Finding: Classifier memorized merchant names. Production requires keyword/regex rules for new merchants.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SUSTAINABILITY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Deterministic Scenarios &amp; Honest Boundary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Verified UK Factors: </a:t>
            </a:r>
            <a:r>
              <a:rPr sz="1600">
                <a:solidFill>
                  <a:srgbClr val="1A202C"/>
                </a:solidFill>
                <a:latin typeface="Calibri"/>
              </a:rPr>
              <a:t>Official 2025 DESNZ factors (petrol 2.069 kg/L, diesel 2.571 kg/L, UK electricity 0.177 kg/kWh).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Operational Scenarios: </a:t>
            </a:r>
            <a:r>
              <a:rPr sz="1600">
                <a:solidFill>
                  <a:srgbClr val="1A202C"/>
                </a:solidFill>
                <a:latin typeface="Calibri"/>
              </a:rPr>
              <a:t>EV models petrol emissions vs grid charging; Green Home models a 10% gas efficiency package.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Solar Regional Boundary: </a:t>
            </a:r>
            <a:r>
              <a:rPr sz="1600">
                <a:solidFill>
                  <a:srgbClr val="1A202C"/>
                </a:solidFill>
                <a:latin typeface="Calibri"/>
              </a:rPr>
              <a:t>Models a 4 kWp London reference system (919 kWh/kWp/year yield); all other regions return UNAVAILABLE.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Paperless Boundary: </a:t>
            </a:r>
            <a:r>
              <a:rPr sz="1600">
                <a:solidFill>
                  <a:srgbClr val="1A202C"/>
                </a:solidFill>
                <a:latin typeface="Calibri"/>
              </a:rPr>
              <a:t>Shows 48 pages/year avoided; CO2 is marked UNAVAILABLE because no verified lifecycle envelope factor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7 of 12   |   Presenter: Speaker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429768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B3D2C"/>
                </a:solidFill>
                <a:latin typeface="Calibri"/>
              </a:defRPr>
            </a:pPr>
            <a:r>
              <a:t>WORKED EXAMPLE: CUSTOMER C002056</a:t>
            </a:r>
          </a:p>
          <a:p>
            <a:pPr>
              <a:spcBef>
                <a:spcPts val="600"/>
              </a:spcBef>
              <a:defRPr sz="1200" b="1">
                <a:solidFill>
                  <a:srgbClr val="0B3D2C"/>
                </a:solidFill>
                <a:latin typeface="Calibri"/>
              </a:defRPr>
            </a:pPr>
            <a:r>
              <a:t>Customer Circumstances: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Petrol car, 24,033 annual miles, £289/mo fuel</a:t>
            </a:r>
          </a:p>
          <a:p>
            <a:pPr>
              <a:spcBef>
                <a:spcPts val="600"/>
              </a:spcBef>
              <a:defRPr sz="1200" b="1">
                <a:solidFill>
                  <a:srgbClr val="0B3D2C"/>
                </a:solidFill>
                <a:latin typeface="Calibri"/>
              </a:defRPr>
            </a:pPr>
            <a:r>
              <a:t>Baseline Transport Emissions: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5,618 kgCO2e / year (petrol combustion)</a:t>
            </a:r>
          </a:p>
          <a:p>
            <a:pPr>
              <a:spcBef>
                <a:spcPts val="600"/>
              </a:spcBef>
              <a:defRPr sz="1200" b="1">
                <a:solidFill>
                  <a:srgbClr val="0B3D2C"/>
                </a:solidFill>
                <a:latin typeface="Calibri"/>
              </a:defRPr>
            </a:pPr>
            <a:r>
              <a:t>EV Scenario Charging Emissions: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1,234 kgCO2e / year (UK grid electricity)</a:t>
            </a:r>
          </a:p>
          <a:p>
            <a:pPr>
              <a:spcBef>
                <a:spcPts val="600"/>
              </a:spcBef>
              <a:defRPr sz="1200" b="1">
                <a:solidFill>
                  <a:srgbClr val="0B3D2C"/>
                </a:solidFill>
                <a:latin typeface="Calibri"/>
              </a:defRPr>
            </a:pPr>
            <a:r>
              <a:t>Net Annual Avoided Impact:</a:t>
            </a:r>
          </a:p>
          <a:p>
            <a:pPr>
              <a:defRPr sz="1200">
                <a:solidFill>
                  <a:srgbClr val="107A57"/>
                </a:solidFill>
                <a:latin typeface="Calibri"/>
              </a:defRPr>
            </a:pPr>
            <a:r>
              <a:t>4,384 kgCO2e / year (ESTIMATED)</a:t>
            </a:r>
          </a:p>
          <a:p>
            <a:br/>
            <a:pPr>
              <a:defRPr sz="1300" b="1">
                <a:solidFill>
                  <a:srgbClr val="B91C1C"/>
                </a:solidFill>
                <a:latin typeface="Calibri"/>
              </a:defRPr>
            </a:pPr>
            <a:r>
              <a:t>TRANSPARENT BOUNDARIES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t>• Solar outside London: UNAVAILABLE (no local yield data)</a:t>
            </a:r>
            <a:br/>
            <a:r>
              <a:t>• Paperless CO2: UNAVAILABLE (no verified envelope factor)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EXPLAINABILITY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Transparent Evidence, Reason Codes &amp; Exclusions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Auditable Reason Codes: </a:t>
            </a:r>
            <a:r>
              <a:rPr sz="1600">
                <a:solidFill>
                  <a:srgbClr val="1A202C"/>
                </a:solidFill>
                <a:latin typeface="Calibri"/>
              </a:rPr>
              <a:t>Every opportunity surfaces plain reasons (e.g. HIGH_FUEL_SPEND, EXISTING_PETROL_VEHICLE).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Evidence Drawer: </a:t>
            </a:r>
            <a:r>
              <a:rPr sz="1600">
                <a:solidFill>
                  <a:srgbClr val="1A202C"/>
                </a:solidFill>
                <a:latin typeface="Calibri"/>
              </a:rPr>
              <a:t>Customers and advisors inspect exact inputs (fuel spend £288.70, mileage 24,033) and conversion source URLs.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Qualitative Reliability Tiers: </a:t>
            </a:r>
            <a:r>
              <a:rPr sz="1600">
                <a:solidFill>
                  <a:srgbClr val="1A202C"/>
                </a:solidFill>
                <a:latin typeface="Calibri"/>
              </a:rPr>
              <a:t>Tiers (High / Medium / Low / Unavailable) assess feature completeness and training familiarity.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Dedicated Exclusion Section: </a:t>
            </a:r>
            <a:r>
              <a:rPr sz="1600">
                <a:solidFill>
                  <a:srgbClr val="1A202C"/>
                </a:solidFill>
                <a:latin typeface="Calibri"/>
              </a:rPr>
              <a:t>Ineligible customers appear in a separate 'Not recommended' section with clear reasons.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8 of 12   |   Presenter: Speaker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429768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B3D2C"/>
                </a:solidFill>
                <a:latin typeface="Calibri"/>
              </a:defRPr>
            </a:pPr>
            <a:r>
              <a:t>STATUS &amp; GOVERNANCE LEGEND</a:t>
            </a:r>
          </a:p>
          <a:p>
            <a:br/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[POTENTIAL_OPPORTUNITY]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Rules satisfied, above validation priority threshold.</a:t>
            </a:r>
          </a:p>
          <a:p>
            <a:br/>
            <a:pPr>
              <a:defRPr sz="1300" b="1">
                <a:solidFill>
                  <a:srgbClr val="B91C1C"/>
                </a:solidFill>
                <a:latin typeface="Calibri"/>
              </a:defRPr>
            </a:pPr>
            <a:r>
              <a:t>[EXCLUDED]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Disqualified by bank policy (e.g. already owns EV).</a:t>
            </a:r>
          </a:p>
          <a:p>
            <a:br/>
            <a:pPr>
              <a:defRPr sz="1300" b="1">
                <a:solidFill>
                  <a:srgbClr val="B45309"/>
                </a:solidFill>
                <a:latin typeface="Calibri"/>
              </a:defRPr>
            </a:pPr>
            <a:r>
              <a:t>[NEEDS_REVIEW]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Conflicting or incomplete customer facts detected.</a:t>
            </a:r>
          </a:p>
          <a:p>
            <a:br/>
            <a:pPr>
              <a:defRPr sz="1300" b="1">
                <a:solidFill>
                  <a:srgbClr val="475569"/>
                </a:solidFill>
                <a:latin typeface="Calibri"/>
              </a:defRPr>
            </a:pPr>
            <a:r>
              <a:t>[INSUFFICIENT_DATA]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Key physical inputs absent; impact marked UNAVAILABLE.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LIVE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Interactive Customer &amp; Business Workspaces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Step 1: </a:t>
            </a:r>
            <a:r>
              <a:rPr sz="1600">
                <a:solidFill>
                  <a:srgbClr val="1A202C"/>
                </a:solidFill>
                <a:latin typeface="Calibri"/>
              </a:rPr>
              <a:t>Retail Customer View (C002056): Shows Customer 360 profile, EV Finance card (58% propensity), and savings.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Step 2: </a:t>
            </a:r>
            <a:r>
              <a:rPr sz="1600">
                <a:solidFill>
                  <a:srgbClr val="1A202C"/>
                </a:solidFill>
                <a:latin typeface="Calibri"/>
              </a:rPr>
              <a:t>Eligibility Separation (C000042): High EV propensity is suppressed to EXCLUDED by rule EXISTING_EV_NO_REPLACEMENT.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Step 3: </a:t>
            </a:r>
            <a:r>
              <a:rPr sz="1600">
                <a:solidFill>
                  <a:srgbClr val="1A202C"/>
                </a:solidFill>
                <a:latin typeface="Calibri"/>
              </a:rPr>
              <a:t>What-If Scenario Explorer (C000018): Toggle EV or Paperless chips to re-run models dynamically without altering records.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Step 4: </a:t>
            </a:r>
            <a:r>
              <a:rPr sz="1600">
                <a:solidFill>
                  <a:srgbClr val="1A202C"/>
                </a:solidFill>
                <a:latin typeface="Calibri"/>
              </a:rPr>
              <a:t>Business Dashboard: Portfolio view across 5,000 customers with drill-down from segment to evidence and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9 of 12   |   Presenter: Speaker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100584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0B3D2C"/>
                </a:solidFill>
                <a:latin typeface="Calibri"/>
              </a:defRPr>
            </a:pPr>
            <a:r>
              <a:t>Demo Step 1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[SCREENSHOT: Customer Card C002056]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807208"/>
            <a:ext cx="4572000" cy="100584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0B3D2C"/>
                </a:solidFill>
                <a:latin typeface="Calibri"/>
              </a:defRPr>
            </a:pPr>
            <a:r>
              <a:t>Demo Step 2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[SCREENSHOT: EV Exclusion Badge C000042]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922776"/>
            <a:ext cx="4572000" cy="100584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0B3D2C"/>
                </a:solidFill>
                <a:latin typeface="Calibri"/>
              </a:defRPr>
            </a:pPr>
            <a:r>
              <a:t>Demo Step 3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[SCREENSHOT: What-If Scenario Chips C000018]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5038344"/>
            <a:ext cx="4572000" cy="100584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00" b="1">
                <a:solidFill>
                  <a:srgbClr val="0B3D2C"/>
                </a:solidFill>
                <a:latin typeface="Calibri"/>
              </a:defRPr>
            </a:pPr>
            <a:r>
              <a:t>Demo Step 4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[SCREENSHOT: Business Intelligence Table]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RESPONSIBLE AI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Guarded LLM Explanations &amp; Ethics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Zero Free-Form Hallucinations: </a:t>
            </a:r>
            <a:r>
              <a:rPr sz="1600">
                <a:solidFill>
                  <a:srgbClr val="1A202C"/>
                </a:solidFill>
                <a:latin typeface="Calibri"/>
              </a:rPr>
              <a:t>LLM is a constrained style selector choosing between pre-approved factual sentences.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Validated Guardrails: </a:t>
            </a:r>
            <a:r>
              <a:rPr sz="1600">
                <a:solidFill>
                  <a:srgbClr val="1A202C"/>
                </a:solidFill>
                <a:latin typeface="Calibri"/>
              </a:rPr>
              <a:t>28/28 offline test cases pass (including 4/4 missing/conflicting data checks); fails closed to templates.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Privacy Protection: </a:t>
            </a:r>
            <a:r>
              <a:rPr sz="1600">
                <a:solidFill>
                  <a:srgbClr val="1A202C"/>
                </a:solidFill>
                <a:latin typeface="Calibri"/>
              </a:rPr>
              <a:t>Customer IDs and personal markers are stripped before sending any external API payload.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Customer Autonomy: </a:t>
            </a:r>
            <a:r>
              <a:rPr sz="1600">
                <a:solidFill>
                  <a:srgbClr val="1A202C"/>
                </a:solidFill>
                <a:latin typeface="Calibri"/>
              </a:rPr>
              <a:t>Interactive memory controls allow users to snooze ('Remind me later'), explore, or permanently dismiss.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10 of 12   |   Presenter: Speaker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429768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B3D2C"/>
                </a:solidFill>
                <a:latin typeface="Calibri"/>
              </a:defRPr>
            </a:pPr>
            <a:r>
              <a:t>GUARDRAIL &amp; GOVERNANCE SCORECARD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✓ Groundedness Guardrails:</a:t>
            </a:r>
          </a:p>
          <a:p>
            <a:pPr>
              <a:defRPr sz="1200">
                <a:solidFill>
                  <a:srgbClr val="107A57"/>
                </a:solidFill>
                <a:latin typeface="Calibri"/>
              </a:defRPr>
            </a:pPr>
            <a:r>
              <a:t>28 / 28 cases passed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✓ Factual Accuracy Guardrails:</a:t>
            </a:r>
          </a:p>
          <a:p>
            <a:pPr>
              <a:defRPr sz="1200">
                <a:solidFill>
                  <a:srgbClr val="107A57"/>
                </a:solidFill>
                <a:latin typeface="Calibri"/>
              </a:defRPr>
            </a:pPr>
            <a:r>
              <a:t>28 / 28 cases passed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✓ Completeness Checks:</a:t>
            </a:r>
          </a:p>
          <a:p>
            <a:pPr>
              <a:defRPr sz="1200">
                <a:solidFill>
                  <a:srgbClr val="107A57"/>
                </a:solidFill>
                <a:latin typeface="Calibri"/>
              </a:defRPr>
            </a:pPr>
            <a:r>
              <a:t>28 / 28 cases passed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✓ Numerical Consistency:</a:t>
            </a:r>
          </a:p>
          <a:p>
            <a:pPr>
              <a:defRPr sz="1200">
                <a:solidFill>
                  <a:srgbClr val="107A57"/>
                </a:solidFill>
                <a:latin typeface="Calibri"/>
              </a:defRPr>
            </a:pPr>
            <a:r>
              <a:t>28 / 28 cases passed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✓ Missing / Conflicting Data:</a:t>
            </a:r>
          </a:p>
          <a:p>
            <a:pPr>
              <a:defRPr sz="1200">
                <a:solidFill>
                  <a:srgbClr val="107A57"/>
                </a:solidFill>
                <a:latin typeface="Calibri"/>
              </a:defRPr>
            </a:pPr>
            <a:r>
              <a:t>4 / 4 edge checks passed</a:t>
            </a:r>
          </a:p>
          <a:p>
            <a:pPr>
              <a:spcBef>
                <a:spcPts val="800"/>
              </a:spcBef>
              <a:defRPr sz="1300" b="1">
                <a:solidFill>
                  <a:srgbClr val="0B3D2C"/>
                </a:solidFill>
                <a:latin typeface="Calibri"/>
              </a:defRPr>
            </a:pPr>
            <a:r>
              <a:t>✓ Automated Test Suite:</a:t>
            </a:r>
          </a:p>
          <a:p>
            <a:pPr>
              <a:defRPr sz="1200">
                <a:solidFill>
                  <a:srgbClr val="107A57"/>
                </a:solidFill>
                <a:latin typeface="Calibri"/>
              </a:defRPr>
            </a:pPr>
            <a:r>
              <a:t>57 automated tests passed (51 backend + 6 frontend)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LIMITATIONS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Honest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Synthetic Data Boundary: </a:t>
            </a:r>
            <a:r>
              <a:rPr sz="1600">
                <a:solidFill>
                  <a:srgbClr val="1A202C"/>
                </a:solidFill>
                <a:latin typeface="Calibri"/>
              </a:rPr>
              <a:t>Metrics reflect the synthetic generator; testing against real banking data is essential before deployment.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Merchant Generalization: </a:t>
            </a:r>
            <a:r>
              <a:rPr sz="1600">
                <a:solidFill>
                  <a:srgbClr val="1A202C"/>
                </a:solidFill>
                <a:latin typeface="Calibri"/>
              </a:rPr>
              <a:t>Unseen merchants require regex dictionaries and fuzzy category lookups alongside ML models.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Solar Geographic Scope: </a:t>
            </a:r>
            <a:r>
              <a:rPr sz="1600">
                <a:solidFill>
                  <a:srgbClr val="1A202C"/>
                </a:solidFill>
                <a:latin typeface="Calibri"/>
              </a:rPr>
              <a:t>Solar models London only; expanding nationwide requires localized irradiance and EPC roof data.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Future Roadmap: </a:t>
            </a:r>
            <a:r>
              <a:rPr sz="1600">
                <a:solidFill>
                  <a:srgbClr val="1A202C"/>
                </a:solidFill>
                <a:latin typeface="Calibri"/>
              </a:rPr>
              <a:t>Integrate PCAF-aligned financed emissions reporting and test live LLM provider responses under banking network SLAs.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11 of 12   |   Presenter: Speaker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429768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B3D2C"/>
                </a:solidFill>
                <a:latin typeface="Calibri"/>
              </a:defRPr>
            </a:pPr>
            <a:r>
              <a:t>CURRENT LIMITS &amp; FUTURE ROADMAP</a:t>
            </a:r>
          </a:p>
          <a:p>
            <a:br/>
            <a:pPr>
              <a:defRPr sz="1300" b="1">
                <a:solidFill>
                  <a:srgbClr val="B91C1C"/>
                </a:solidFill>
                <a:latin typeface="Calibri"/>
              </a:defRPr>
            </a:pPr>
            <a:r>
              <a:t>Current Limit: Synthetic Labels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Performance reflects simulation; real cohort testing is required.</a:t>
            </a:r>
          </a:p>
          <a:p>
            <a:br/>
            <a:pPr>
              <a:defRPr sz="1300" b="1">
                <a:solidFill>
                  <a:srgbClr val="B91C1C"/>
                </a:solidFill>
                <a:latin typeface="Calibri"/>
              </a:defRPr>
            </a:pPr>
            <a:r>
              <a:t>Current Limit: Merchant Holdout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Model memorized synthetic merchant tokens; needs regex fallback.</a:t>
            </a:r>
          </a:p>
          <a:p>
            <a:br/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Next Step: EPC &amp; Solar Ingestion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Ingest UK Energy Performance Certificates for roof orientation.</a:t>
            </a:r>
          </a:p>
          <a:p>
            <a:br/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Next Step: PCAF Accounting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Implement financed emissions attribution metrics for banking.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7A57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B3D2C"/>
                </a:solidFill>
                <a:latin typeface="Calibri"/>
              </a:defRPr>
            </a:pPr>
            <a:r>
              <a:t>GreenLens AI: Actionable, Transparent Green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Meets the Brief: </a:t>
            </a:r>
            <a:r>
              <a:rPr sz="1600">
                <a:solidFill>
                  <a:srgbClr val="1A202C"/>
                </a:solidFill>
                <a:latin typeface="Calibri"/>
              </a:rPr>
              <a:t>Full four-product platform with dual customer and relationship manager dashboards.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Principled Separation: </a:t>
            </a:r>
            <a:r>
              <a:rPr sz="1600">
                <a:solidFill>
                  <a:srgbClr val="1A202C"/>
                </a:solidFill>
                <a:latin typeface="Calibri"/>
              </a:rPr>
              <a:t>Machine learning predicts take-up, deterministic rules compute carbon, and AI explains facts.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Audit-Ready Governance: </a:t>
            </a:r>
            <a:r>
              <a:rPr sz="1600">
                <a:solidFill>
                  <a:srgbClr val="1A202C"/>
                </a:solidFill>
                <a:latin typeface="Calibri"/>
              </a:rPr>
              <a:t>Honest about limits, zero greenwashing, and fully reproducible across 57 automated tests.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0B3D2C"/>
                </a:solidFill>
                <a:latin typeface="Calibri"/>
              </a:rPr>
              <a:t>•  Thank You: </a:t>
            </a:r>
            <a:r>
              <a:rPr sz="1600">
                <a:solidFill>
                  <a:srgbClr val="1A202C"/>
                </a:solidFill>
                <a:latin typeface="Calibri"/>
              </a:rPr>
              <a:t>Team 43 is ready to take your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GreenLens AI · Team 43   |   Slide 12 of 12   |   Presenter: Speaker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91640"/>
            <a:ext cx="4572000" cy="4297680"/>
          </a:xfrm>
          <a:prstGeom prst="roundRect">
            <a:avLst/>
          </a:prstGeom>
          <a:solidFill>
            <a:srgbClr val="F1F6F4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700" b="1">
                <a:solidFill>
                  <a:srgbClr val="0B3D2C"/>
                </a:solidFill>
                <a:latin typeface="Calibri"/>
              </a:defRPr>
            </a:pPr>
            <a:r>
              <a:t>KEY TAKEAWAY</a:t>
            </a:r>
          </a:p>
          <a:p>
            <a:pPr>
              <a:spcBef>
                <a:spcPts val="1000"/>
              </a:spcBef>
              <a:defRPr sz="1400">
                <a:solidFill>
                  <a:srgbClr val="1A202C"/>
                </a:solidFill>
                <a:latin typeface="Calibri"/>
              </a:defRPr>
            </a:pPr>
            <a:r>
              <a:t>GreenLens AI proves that banks can deliver intelligent, personalized green recommendations while upholding the highest standards of financial governance.</a:t>
            </a:r>
          </a:p>
          <a:p>
            <a:br/>
            <a:pPr>
              <a:defRPr sz="1400" b="1">
                <a:solidFill>
                  <a:srgbClr val="107A57"/>
                </a:solidFill>
                <a:latin typeface="Calibri"/>
              </a:defRPr>
            </a:pPr>
            <a:r>
              <a:t>• 4 Green Products Implemented</a:t>
            </a:r>
            <a:br/>
            <a:r>
              <a:t>• 5,000 Customers Analyzed</a:t>
            </a:r>
            <a:br/>
            <a:r>
              <a:t>• 100% Deterministic Carbon Engine</a:t>
            </a:r>
            <a:br/>
            <a:r>
              <a:t>• Zero LLM Hallucinations</a:t>
            </a:r>
            <a:br/>
            <a:r>
              <a:t>• 57 Automated Tests Passing</a:t>
            </a:r>
          </a:p>
          <a:p>
            <a:br/>
            <a:pPr>
              <a:defRPr sz="1500" b="1">
                <a:solidFill>
                  <a:srgbClr val="0B3D2C"/>
                </a:solidFill>
                <a:latin typeface="Calibri"/>
              </a:defRPr>
            </a:pPr>
            <a:r>
              <a:t>Ready for Questions &amp;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